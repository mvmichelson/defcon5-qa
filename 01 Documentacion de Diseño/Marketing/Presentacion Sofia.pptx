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7"/>
  </p:notesMasterIdLst>
  <p:handoutMasterIdLst>
    <p:handoutMasterId r:id="rId14"/>
  </p:handoutMasterIdLst>
  <p:sldIdLst>
    <p:sldId id="263" r:id="rId5"/>
    <p:sldId id="269" r:id="rId6"/>
    <p:sldId id="270" r:id="rId8"/>
    <p:sldId id="268" r:id="rId9"/>
    <p:sldId id="264" r:id="rId10"/>
    <p:sldId id="262" r:id="rId11"/>
    <p:sldId id="271" r:id="rId12"/>
    <p:sldId id="272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3.jpe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0" Type="http://schemas.openxmlformats.org/officeDocument/2006/relationships/tags" Target="../tags/tag87.xml"/><Relationship Id="rId2" Type="http://schemas.openxmlformats.org/officeDocument/2006/relationships/tags" Target="../tags/tag69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image" Target="../media/image5.png"/><Relationship Id="rId5" Type="http://schemas.openxmlformats.org/officeDocument/2006/relationships/tags" Target="../tags/tag176.xml"/><Relationship Id="rId4" Type="http://schemas.openxmlformats.org/officeDocument/2006/relationships/image" Target="../media/image4.png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image" Target="../media/image5.png"/><Relationship Id="rId5" Type="http://schemas.openxmlformats.org/officeDocument/2006/relationships/tags" Target="../tags/tag194.xml"/><Relationship Id="rId4" Type="http://schemas.openxmlformats.org/officeDocument/2006/relationships/image" Target="../media/image4.png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image" Target="../media/image5.png"/><Relationship Id="rId5" Type="http://schemas.openxmlformats.org/officeDocument/2006/relationships/tags" Target="../tags/tag202.xml"/><Relationship Id="rId4" Type="http://schemas.openxmlformats.org/officeDocument/2006/relationships/image" Target="../media/image4.png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image" Target="../media/image5.png"/><Relationship Id="rId5" Type="http://schemas.openxmlformats.org/officeDocument/2006/relationships/tags" Target="../tags/tag242.xml"/><Relationship Id="rId4" Type="http://schemas.openxmlformats.org/officeDocument/2006/relationships/image" Target="../media/image4.png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5" Type="http://schemas.openxmlformats.org/officeDocument/2006/relationships/tags" Target="../tags/tag251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1163955" y="523875"/>
            <a:ext cx="6628130" cy="3411855"/>
          </a:xfrm>
        </p:spPr>
        <p:txBody>
          <a:bodyPr wrap="square" anchor="b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"/>
            </p:custDataLst>
          </p:nvPr>
        </p:nvSpPr>
        <p:spPr>
          <a:xfrm>
            <a:off x="1163638" y="4553893"/>
            <a:ext cx="6628158" cy="106435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15" name="矩形 14"/>
          <p:cNvSpPr/>
          <p:nvPr userDrawn="1">
            <p:custDataLst>
              <p:tags r:id="rId11"/>
            </p:custDataLst>
          </p:nvPr>
        </p:nvSpPr>
        <p:spPr>
          <a:xfrm>
            <a:off x="1163638" y="4304430"/>
            <a:ext cx="684000" cy="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en-US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271462" y="452438"/>
            <a:ext cx="11649076" cy="61245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图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3501234"/>
          </a:xfrm>
          <a:custGeom>
            <a:avLst/>
            <a:gdLst>
              <a:gd name="connsiteX0" fmla="*/ 0 w 12192000"/>
              <a:gd name="connsiteY0" fmla="*/ 2699336 h 4235386"/>
              <a:gd name="connsiteX1" fmla="*/ 0 w 12192000"/>
              <a:gd name="connsiteY1" fmla="*/ 0 h 4235386"/>
              <a:gd name="connsiteX2" fmla="*/ 12192000 w 12192000"/>
              <a:gd name="connsiteY2" fmla="*/ 0 h 4235386"/>
              <a:gd name="connsiteX3" fmla="*/ 12192000 w 12192000"/>
              <a:gd name="connsiteY3" fmla="*/ 2699336 h 4235386"/>
              <a:gd name="connsiteX4" fmla="*/ 6096000 w 12192000"/>
              <a:gd name="connsiteY4" fmla="*/ 4235386 h 4235386"/>
              <a:gd name="connsiteX5" fmla="*/ 0 w 12192000"/>
              <a:gd name="connsiteY5" fmla="*/ 2699336 h 4235386"/>
              <a:gd name="connsiteX0-1" fmla="*/ 0 w 12192000"/>
              <a:gd name="connsiteY0-2" fmla="*/ 2699336 h 4094834"/>
              <a:gd name="connsiteX1-3" fmla="*/ 0 w 12192000"/>
              <a:gd name="connsiteY1-4" fmla="*/ 0 h 4094834"/>
              <a:gd name="connsiteX2-5" fmla="*/ 12192000 w 12192000"/>
              <a:gd name="connsiteY2-6" fmla="*/ 0 h 4094834"/>
              <a:gd name="connsiteX3-7" fmla="*/ 12192000 w 12192000"/>
              <a:gd name="connsiteY3-8" fmla="*/ 2699336 h 4094834"/>
              <a:gd name="connsiteX4-9" fmla="*/ 6102395 w 12192000"/>
              <a:gd name="connsiteY4-10" fmla="*/ 4094834 h 4094834"/>
              <a:gd name="connsiteX5-11" fmla="*/ 0 w 12192000"/>
              <a:gd name="connsiteY5-12" fmla="*/ 2699336 h 4094834"/>
              <a:gd name="connsiteX0-13" fmla="*/ 0 w 12192000"/>
              <a:gd name="connsiteY0-14" fmla="*/ 2699336 h 4094834"/>
              <a:gd name="connsiteX1-15" fmla="*/ 0 w 12192000"/>
              <a:gd name="connsiteY1-16" fmla="*/ 0 h 4094834"/>
              <a:gd name="connsiteX2-17" fmla="*/ 12192000 w 12192000"/>
              <a:gd name="connsiteY2-18" fmla="*/ 0 h 4094834"/>
              <a:gd name="connsiteX3-19" fmla="*/ 12192000 w 12192000"/>
              <a:gd name="connsiteY3-20" fmla="*/ 2699336 h 4094834"/>
              <a:gd name="connsiteX4-21" fmla="*/ 6102395 w 12192000"/>
              <a:gd name="connsiteY4-22" fmla="*/ 4094834 h 4094834"/>
              <a:gd name="connsiteX5-23" fmla="*/ 0 w 12192000"/>
              <a:gd name="connsiteY5-24" fmla="*/ 2699336 h 4094834"/>
              <a:gd name="connsiteX0-25" fmla="*/ 0 w 12192000"/>
              <a:gd name="connsiteY0-26" fmla="*/ 2699336 h 4094834"/>
              <a:gd name="connsiteX1-27" fmla="*/ 0 w 12192000"/>
              <a:gd name="connsiteY1-28" fmla="*/ 0 h 4094834"/>
              <a:gd name="connsiteX2-29" fmla="*/ 12192000 w 12192000"/>
              <a:gd name="connsiteY2-30" fmla="*/ 0 h 4094834"/>
              <a:gd name="connsiteX3-31" fmla="*/ 12192000 w 12192000"/>
              <a:gd name="connsiteY3-32" fmla="*/ 2699336 h 4094834"/>
              <a:gd name="connsiteX4-33" fmla="*/ 6102395 w 12192000"/>
              <a:gd name="connsiteY4-34" fmla="*/ 4094834 h 4094834"/>
              <a:gd name="connsiteX5-35" fmla="*/ 0 w 12192000"/>
              <a:gd name="connsiteY5-36" fmla="*/ 2699336 h 4094834"/>
              <a:gd name="connsiteX0-37" fmla="*/ 0 w 12192000"/>
              <a:gd name="connsiteY0-38" fmla="*/ 2699336 h 4094834"/>
              <a:gd name="connsiteX1-39" fmla="*/ 0 w 12192000"/>
              <a:gd name="connsiteY1-40" fmla="*/ 0 h 4094834"/>
              <a:gd name="connsiteX2-41" fmla="*/ 12192000 w 12192000"/>
              <a:gd name="connsiteY2-42" fmla="*/ 0 h 4094834"/>
              <a:gd name="connsiteX3-43" fmla="*/ 12192000 w 12192000"/>
              <a:gd name="connsiteY3-44" fmla="*/ 2699336 h 4094834"/>
              <a:gd name="connsiteX4-45" fmla="*/ 6102395 w 12192000"/>
              <a:gd name="connsiteY4-46" fmla="*/ 4094834 h 4094834"/>
              <a:gd name="connsiteX5-47" fmla="*/ 0 w 12192000"/>
              <a:gd name="connsiteY5-48" fmla="*/ 2699336 h 4094834"/>
              <a:gd name="connsiteX0-49" fmla="*/ 0 w 12192000"/>
              <a:gd name="connsiteY0-50" fmla="*/ 2699336 h 4050449"/>
              <a:gd name="connsiteX1-51" fmla="*/ 0 w 12192000"/>
              <a:gd name="connsiteY1-52" fmla="*/ 0 h 4050449"/>
              <a:gd name="connsiteX2-53" fmla="*/ 12192000 w 12192000"/>
              <a:gd name="connsiteY2-54" fmla="*/ 0 h 4050449"/>
              <a:gd name="connsiteX3-55" fmla="*/ 12192000 w 12192000"/>
              <a:gd name="connsiteY3-56" fmla="*/ 2699336 h 4050449"/>
              <a:gd name="connsiteX4-57" fmla="*/ 6108789 w 12192000"/>
              <a:gd name="connsiteY4-58" fmla="*/ 4050449 h 4050449"/>
              <a:gd name="connsiteX5-59" fmla="*/ 0 w 12192000"/>
              <a:gd name="connsiteY5-60" fmla="*/ 2699336 h 40504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92000" h="4050449">
                <a:moveTo>
                  <a:pt x="0" y="2699336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2699336"/>
                </a:lnTo>
                <a:cubicBezTo>
                  <a:pt x="9432701" y="3723367"/>
                  <a:pt x="8193585" y="4050449"/>
                  <a:pt x="6108789" y="4050449"/>
                </a:cubicBezTo>
                <a:cubicBezTo>
                  <a:pt x="4023993" y="4050449"/>
                  <a:pt x="2759319" y="3723367"/>
                  <a:pt x="0" y="2699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38000">
                <a:schemeClr val="accent2">
                  <a:lumMod val="50000"/>
                </a:schemeClr>
              </a:gs>
            </a:gsLst>
            <a:lin ang="8100000" scaled="1"/>
            <a:tileRect/>
          </a:gradFill>
          <a:ln w="4762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77111" y="1273862"/>
            <a:ext cx="10437779" cy="1081088"/>
          </a:xfrm>
        </p:spPr>
        <p:txBody>
          <a:bodyPr wrap="square" anchor="b">
            <a:normAutofit/>
          </a:bodyPr>
          <a:lstStyle>
            <a:lvl1pPr algn="ctr"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81355" y="2541270"/>
            <a:ext cx="10829925" cy="1536700"/>
          </a:xfrm>
        </p:spPr>
        <p:txBody>
          <a:bodyPr wrap="square" anchor="t">
            <a:normAutofit/>
          </a:bodyPr>
          <a:lstStyle>
            <a:lvl1pPr algn="ctr">
              <a:defRPr sz="40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681355" y="136525"/>
            <a:ext cx="10829925" cy="227711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8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5602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46687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1862051"/>
            <a:ext cx="5157787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246687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1862051"/>
            <a:ext cx="5183188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1038" y="360000"/>
            <a:ext cx="1081376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35075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 userDrawn="1">
            <p:custDataLst>
              <p:tags r:id="rId2"/>
            </p:custDataLst>
          </p:nvPr>
        </p:nvCxnSpPr>
        <p:spPr>
          <a:xfrm>
            <a:off x="9105265" y="58674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3"/>
            </p:custDataLst>
          </p:nvPr>
        </p:nvCxnSpPr>
        <p:spPr>
          <a:xfrm>
            <a:off x="9105265" y="64516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4"/>
            </p:custDataLst>
          </p:nvPr>
        </p:nvCxnSpPr>
        <p:spPr>
          <a:xfrm>
            <a:off x="9105265" y="70358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副标题"/>
          <p:cNvSpPr>
            <a:spLocks noGrp="1"/>
          </p:cNvSpPr>
          <p:nvPr>
            <p:ph type="body" idx="32" hasCustomPrompt="1"/>
            <p:custDataLst>
              <p:tags r:id="rId5"/>
            </p:custDataLst>
          </p:nvPr>
        </p:nvSpPr>
        <p:spPr>
          <a:xfrm>
            <a:off x="1689735" y="2755316"/>
            <a:ext cx="7549515" cy="67754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7" name="标题"/>
          <p:cNvSpPr>
            <a:spLocks noGrp="1"/>
          </p:cNvSpPr>
          <p:nvPr>
            <p:ph type="title" idx="31" hasCustomPrompt="1"/>
            <p:custDataLst>
              <p:tags r:id="rId6"/>
            </p:custDataLst>
          </p:nvPr>
        </p:nvSpPr>
        <p:spPr>
          <a:xfrm>
            <a:off x="1689735" y="98425"/>
            <a:ext cx="9169400" cy="26536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1" name="椭圆 10"/>
          <p:cNvSpPr/>
          <p:nvPr userDrawn="1">
            <p:custDataLst>
              <p:tags r:id="rId7"/>
            </p:custDataLst>
          </p:nvPr>
        </p:nvSpPr>
        <p:spPr>
          <a:xfrm>
            <a:off x="2440305" y="3308985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35" name="椭圆 34"/>
          <p:cNvSpPr/>
          <p:nvPr userDrawn="1">
            <p:custDataLst>
              <p:tags r:id="rId11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任意多边形 2"/>
          <p:cNvSpPr/>
          <p:nvPr userDrawn="1">
            <p:custDataLst>
              <p:tags r:id="rId12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任意多边形 39"/>
          <p:cNvSpPr/>
          <p:nvPr userDrawn="1">
            <p:custDataLst>
              <p:tags r:id="rId13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任意多边形 40"/>
          <p:cNvSpPr/>
          <p:nvPr userDrawn="1">
            <p:custDataLst>
              <p:tags r:id="rId14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任意多边形 41"/>
          <p:cNvSpPr/>
          <p:nvPr userDrawn="1">
            <p:custDataLst>
              <p:tags r:id="rId15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椭圆 42"/>
          <p:cNvSpPr/>
          <p:nvPr userDrawn="1">
            <p:custDataLst>
              <p:tags r:id="rId16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椭圆 43"/>
          <p:cNvSpPr/>
          <p:nvPr userDrawn="1">
            <p:custDataLst>
              <p:tags r:id="rId17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椭圆 44"/>
          <p:cNvSpPr/>
          <p:nvPr userDrawn="1">
            <p:custDataLst>
              <p:tags r:id="rId18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783715" y="3472865"/>
            <a:ext cx="1574800" cy="4559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矩形: 剪去对角 8"/>
          <p:cNvSpPr/>
          <p:nvPr userDrawn="1">
            <p:custDataLst>
              <p:tags r:id="rId20"/>
            </p:custDataLst>
          </p:nvPr>
        </p:nvSpPr>
        <p:spPr>
          <a:xfrm>
            <a:off x="1783715" y="3485564"/>
            <a:ext cx="1574800" cy="455930"/>
          </a:xfrm>
          <a:prstGeom prst="snip2Diag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R="0" lvl="0" indent="-228600" algn="ctr" fontAlgn="auto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</a:pPr>
            <a:endParaRPr kumimoji="0" lang="en-US" sz="1400" b="0" i="0" u="none" strike="noStrike" cap="none" spc="0" normalizeH="0" baseline="0" noProof="1">
              <a:ln>
                <a:noFill/>
                <a:prstDash val="sysDot"/>
              </a:ln>
              <a:solidFill>
                <a:schemeClr val="accent1"/>
              </a:solidFill>
              <a:uFillTx/>
              <a:latin typeface="+mj-lt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sz="1800" u="none" strike="noStrike" kern="1200" cap="none" spc="0" normalizeH="0"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>
              <a:defRPr sz="1600">
                <a:latin typeface="+mn-lt"/>
                <a:sym typeface="+mn-ea"/>
              </a:defRPr>
            </a:lvl2pPr>
            <a:lvl3pPr>
              <a:defRPr sz="1600">
                <a:latin typeface="+mn-lt"/>
                <a:sym typeface="+mn-ea"/>
              </a:defRPr>
            </a:lvl3pPr>
            <a:lvl4pPr>
              <a:defRPr sz="1400">
                <a:latin typeface="+mn-lt"/>
                <a:sym typeface="+mn-ea"/>
              </a:defRPr>
            </a:lvl4pPr>
            <a:lvl5pPr>
              <a:defRPr sz="1400">
                <a:latin typeface="+mn-lt"/>
                <a:sym typeface="+mn-ea"/>
              </a:defRPr>
            </a:lvl5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13" hasCustomPrompt="1"/>
            <p:custDataLst>
              <p:tags r:id="rId2"/>
            </p:custDataLst>
          </p:nvPr>
        </p:nvSpPr>
        <p:spPr>
          <a:xfrm>
            <a:off x="429895" y="454025"/>
            <a:ext cx="6546801" cy="1016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400" b="1" i="0" u="none" strike="noStrike" kern="1200" cap="none" spc="0" normalizeH="0" baseline="0" noProof="1" dirty="0">
                <a:solidFill>
                  <a:schemeClr val="accent1"/>
                </a:solidFill>
                <a:effectLst/>
                <a:latin typeface="+mj-lt"/>
                <a:sym typeface="+mn-ea"/>
              </a:defRPr>
            </a:lvl1pPr>
          </a:lstStyle>
          <a:p>
            <a:pPr lvl="0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14" name="矩形 13"/>
          <p:cNvSpPr/>
          <p:nvPr userDrawn="1">
            <p:custDataLst>
              <p:tags r:id="rId6"/>
            </p:custDataLst>
          </p:nvPr>
        </p:nvSpPr>
        <p:spPr>
          <a:xfrm flipH="1">
            <a:off x="8221980" y="6144260"/>
            <a:ext cx="904875" cy="492125"/>
          </a:xfrm>
          <a:prstGeom prst="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>
            <a:noFill/>
            <a:prstDash val="solid"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 flipH="1">
            <a:off x="7935595" y="6430010"/>
            <a:ext cx="676910" cy="330200"/>
          </a:xfrm>
          <a:prstGeom prst="rect">
            <a:avLst/>
          </a:prstGeom>
          <a:solidFill>
            <a:schemeClr val="accent1">
              <a:lumMod val="60000"/>
              <a:lumOff val="40000"/>
              <a:alpha val="5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/>
          <p:cNvSpPr/>
          <p:nvPr userDrawn="1">
            <p:custDataLst>
              <p:tags r:id="rId8"/>
            </p:custDataLst>
          </p:nvPr>
        </p:nvSpPr>
        <p:spPr>
          <a:xfrm flipH="1">
            <a:off x="6774815" y="475234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椭圆 18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9277985" y="6059170"/>
            <a:ext cx="144145" cy="144145"/>
          </a:xfrm>
          <a:prstGeom prst="ellipse">
            <a:avLst/>
          </a:prstGeom>
          <a:noFill/>
          <a:ln w="25400">
            <a:solidFill>
              <a:schemeClr val="accent2">
                <a:alpha val="12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任意多边形 19"/>
          <p:cNvSpPr/>
          <p:nvPr userDrawn="1">
            <p:custDataLst>
              <p:tags r:id="rId10"/>
            </p:custDataLst>
          </p:nvPr>
        </p:nvSpPr>
        <p:spPr>
          <a:xfrm flipH="1">
            <a:off x="2540" y="472440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任意多边形 20"/>
          <p:cNvSpPr/>
          <p:nvPr userDrawn="1">
            <p:custDataLst>
              <p:tags r:id="rId11"/>
            </p:custDataLst>
          </p:nvPr>
        </p:nvSpPr>
        <p:spPr>
          <a:xfrm flipH="1">
            <a:off x="1270" y="501015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任意多边形 21"/>
          <p:cNvSpPr/>
          <p:nvPr userDrawn="1">
            <p:custDataLst>
              <p:tags r:id="rId12"/>
            </p:custDataLst>
          </p:nvPr>
        </p:nvSpPr>
        <p:spPr>
          <a:xfrm flipH="1">
            <a:off x="1270" y="523176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任意多边形 22"/>
          <p:cNvSpPr/>
          <p:nvPr userDrawn="1">
            <p:custDataLst>
              <p:tags r:id="rId13"/>
            </p:custDataLst>
          </p:nvPr>
        </p:nvSpPr>
        <p:spPr>
          <a:xfrm flipH="1">
            <a:off x="2540" y="548449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椭圆 23"/>
          <p:cNvSpPr/>
          <p:nvPr userDrawn="1">
            <p:custDataLst>
              <p:tags r:id="rId14"/>
            </p:custDataLst>
          </p:nvPr>
        </p:nvSpPr>
        <p:spPr>
          <a:xfrm flipH="1">
            <a:off x="4275455" y="631063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椭圆 24"/>
          <p:cNvSpPr/>
          <p:nvPr userDrawn="1">
            <p:custDataLst>
              <p:tags r:id="rId15"/>
            </p:custDataLst>
          </p:nvPr>
        </p:nvSpPr>
        <p:spPr>
          <a:xfrm flipH="1">
            <a:off x="10067290" y="555244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椭圆 25"/>
          <p:cNvSpPr/>
          <p:nvPr userDrawn="1">
            <p:custDataLst>
              <p:tags r:id="rId16"/>
            </p:custDataLst>
          </p:nvPr>
        </p:nvSpPr>
        <p:spPr>
          <a:xfrm flipH="1">
            <a:off x="1334770" y="613854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"/>
          <p:cNvSpPr txBox="1">
            <a:spLocks noGrp="1"/>
          </p:cNvSpPr>
          <p:nvPr>
            <p:ph type="title" idx="13" hasCustomPrompt="1"/>
            <p:custDataLst>
              <p:tags r:id="rId2"/>
            </p:custDataLst>
          </p:nvPr>
        </p:nvSpPr>
        <p:spPr>
          <a:xfrm>
            <a:off x="3891280" y="1578610"/>
            <a:ext cx="6968490" cy="21018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节编号"/>
          <p:cNvSpPr txBox="1">
            <a:spLocks noGrp="1"/>
          </p:cNvSpPr>
          <p:nvPr>
            <p:ph type="body" idx="9" hasCustomPrompt="1"/>
            <p:custDataLst>
              <p:tags r:id="rId3"/>
            </p:custDataLst>
          </p:nvPr>
        </p:nvSpPr>
        <p:spPr>
          <a:xfrm>
            <a:off x="577850" y="1579880"/>
            <a:ext cx="3261995" cy="210058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500" b="0" i="0" u="none" strike="noStrike" kern="1200" cap="none" spc="0" normalizeH="0" baseline="0" noProof="1" dirty="0">
                <a:ln w="12700" cmpd="sng">
                  <a:solidFill>
                    <a:schemeClr val="accent1"/>
                  </a:solidFill>
                  <a:prstDash val="solid"/>
                </a:ln>
                <a:noFill/>
                <a:latin typeface="+mn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 text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7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8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9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10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1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2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3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4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"/>
          <p:cNvSpPr txBox="1">
            <a:spLocks noGrp="1"/>
          </p:cNvSpPr>
          <p:nvPr>
            <p:ph type="title" idx="32" hasCustomPrompt="1"/>
            <p:custDataLst>
              <p:tags r:id="rId2"/>
            </p:custDataLst>
          </p:nvPr>
        </p:nvSpPr>
        <p:spPr>
          <a:xfrm>
            <a:off x="977900" y="1165225"/>
            <a:ext cx="6128385" cy="18135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24" name="直接连接符 23"/>
          <p:cNvCxnSpPr/>
          <p:nvPr userDrawn="1">
            <p:custDataLst>
              <p:tags r:id="rId3"/>
            </p:custDataLst>
          </p:nvPr>
        </p:nvCxnSpPr>
        <p:spPr>
          <a:xfrm>
            <a:off x="11137265" y="59055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4"/>
            </p:custDataLst>
          </p:nvPr>
        </p:nvCxnSpPr>
        <p:spPr>
          <a:xfrm>
            <a:off x="11137265" y="64897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5"/>
            </p:custDataLst>
          </p:nvPr>
        </p:nvCxnSpPr>
        <p:spPr>
          <a:xfrm>
            <a:off x="11137265" y="70739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 userDrawn="1">
            <p:custDataLst>
              <p:tags r:id="rId6"/>
            </p:custDataLst>
          </p:nvPr>
        </p:nvSpPr>
        <p:spPr>
          <a:xfrm flipH="1">
            <a:off x="7891780" y="3303270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10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11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12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13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4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5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6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7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977900" y="2978785"/>
            <a:ext cx="1569085" cy="39624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 hasCustomPrompt="1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266825" y="136525"/>
            <a:ext cx="9679940" cy="3126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>
                <a:sym typeface="+mn-ea"/>
              </a:rPr>
              <a:t>Click to add title</a:t>
            </a:r>
            <a:endParaRPr lang="en-US" dirty="0">
              <a:latin typeface="+mj-lt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182" y="1122981"/>
            <a:ext cx="96132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16423" y="291071"/>
            <a:ext cx="7067708" cy="831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489" y="2426407"/>
            <a:ext cx="7191021" cy="64304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1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lt"/>
              </a:defRPr>
            </a:lvl1pPr>
          </a:lstStyle>
          <a:p>
            <a:pPr lvl="0" algn="ctr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489" y="3180306"/>
            <a:ext cx="7191022" cy="177198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930" y="1696085"/>
            <a:ext cx="7724140" cy="2343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2" Type="http://schemas.openxmlformats.org/officeDocument/2006/relationships/theme" Target="../theme/theme3.xml"/><Relationship Id="rId21" Type="http://schemas.openxmlformats.org/officeDocument/2006/relationships/tags" Target="../tags/tag264.xml"/><Relationship Id="rId20" Type="http://schemas.openxmlformats.org/officeDocument/2006/relationships/tags" Target="../tags/tag263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800" y="1235075"/>
            <a:ext cx="10800000" cy="489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 txBox="1">
            <a:spLocks noGrp="1"/>
          </p:cNvSpPr>
          <p:nvPr>
            <p:ph type="body" idx="2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3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4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5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6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67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tags" Target="../tags/tag2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69.xml"/><Relationship Id="rId2" Type="http://schemas.openxmlformats.org/officeDocument/2006/relationships/image" Target="../media/image8.png"/><Relationship Id="rId1" Type="http://schemas.openxmlformats.org/officeDocument/2006/relationships/tags" Target="../tags/tag2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4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image" Target="../media/image9.png"/><Relationship Id="rId1" Type="http://schemas.openxmlformats.org/officeDocument/2006/relationships/tags" Target="../tags/tag2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74.xml"/><Relationship Id="rId2" Type="http://schemas.openxmlformats.org/officeDocument/2006/relationships/image" Target="../media/image10.png"/><Relationship Id="rId1" Type="http://schemas.openxmlformats.org/officeDocument/2006/relationships/tags" Target="../tags/tag2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76.xml"/><Relationship Id="rId2" Type="http://schemas.openxmlformats.org/officeDocument/2006/relationships/image" Target="../media/image11.png"/><Relationship Id="rId1" Type="http://schemas.openxmlformats.org/officeDocument/2006/relationships/tags" Target="../tags/tag27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78.xml"/><Relationship Id="rId2" Type="http://schemas.openxmlformats.org/officeDocument/2006/relationships/image" Target="../media/image12.png"/><Relationship Id="rId1" Type="http://schemas.openxmlformats.org/officeDocument/2006/relationships/tags" Target="../tags/tag27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4.xml"/><Relationship Id="rId6" Type="http://schemas.openxmlformats.org/officeDocument/2006/relationships/tags" Target="../tags/tag28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280.xml"/><Relationship Id="rId2" Type="http://schemas.openxmlformats.org/officeDocument/2006/relationships/image" Target="../media/image9.png"/><Relationship Id="rId1" Type="http://schemas.openxmlformats.org/officeDocument/2006/relationships/tags" Target="../tags/tag2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 1"/>
          <p:cNvSpPr txBox="1"/>
          <p:nvPr/>
        </p:nvSpPr>
        <p:spPr>
          <a:xfrm>
            <a:off x="7506335" y="329438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 sz="5400" b="1" i="1">
                <a:solidFill>
                  <a:srgbClr val="92D050"/>
                </a:solidFill>
                <a:latin typeface="Verdana" panose="020B0604030504040204" charset="0"/>
                <a:cs typeface="Verdana" panose="020B0604030504040204" charset="0"/>
              </a:rPr>
              <a:t>defcon5</a:t>
            </a:r>
            <a:endParaRPr lang="es-MX" altLang="en-US" sz="5400" b="1" i="1">
              <a:solidFill>
                <a:srgbClr val="92D05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7534275" y="42081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 sz="1600" i="1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Convirtiendo documentos en Resiliencia. </a:t>
            </a:r>
            <a:endParaRPr lang="es-MX" altLang="en-US" sz="1600" i="1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1315" y="496570"/>
            <a:ext cx="6885305" cy="1329055"/>
          </a:xfrm>
        </p:spPr>
        <p:txBody>
          <a:bodyPr wrap="square" lIns="0" tIns="0" rIns="0" bIns="0" anchor="ctr" anchorCtr="0">
            <a:noAutofit/>
          </a:bodyPr>
          <a:lstStyle/>
          <a:p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La crisis no expone la falta de planes. Expone planes que no funcionan.</a:t>
            </a:r>
            <a:b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</a:b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361315" y="1734185"/>
            <a:ext cx="6689090" cy="1245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Solo 1 de cada 10 organizaciones se consideraba realmente preparada al enfrentar una crisis real, y más del 90 % reconoció que sus planes de continuidad fallaron o debieron ser corregidos tras el evento</a:t>
            </a:r>
            <a:r>
              <a:rPr lang="es-MX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.</a:t>
            </a:r>
            <a:endParaRPr lang="en-US" altLang="zh-CN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(PwC Global Crisis Survey; Gartner).</a:t>
            </a:r>
            <a:endParaRPr lang="en-US" altLang="zh-CN" sz="15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462280" y="3159125"/>
            <a:ext cx="6678295" cy="1599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En situaciones reales de disrupción, los planes tradicionales colapsan:</a:t>
            </a:r>
            <a:endParaRPr lang="en-US" altLang="zh-CN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endParaRPr lang="en-US" altLang="zh-CN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no están actualizados, no han sido probados o no pueden ejecutarse bajo presión.</a:t>
            </a:r>
            <a:endParaRPr lang="en-US" altLang="zh-CN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endParaRPr lang="en-US" altLang="zh-CN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brecha no es normativa ni metodológica.</a:t>
            </a:r>
            <a:r>
              <a:rPr lang="es-MX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... </a:t>
            </a:r>
            <a:r>
              <a:rPr lang="en-US" altLang="zh-CN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 operativa</a:t>
            </a:r>
            <a:r>
              <a:rPr lang="es-MX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!.</a:t>
            </a:r>
            <a:endParaRPr lang="es-MX" altLang="en-US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534035" y="5055870"/>
            <a:ext cx="625284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Tener un BCP/DRP ya no es suficiente. La diferencia está en poder ejecutarlo cuando todo falla.</a:t>
            </a:r>
            <a:endParaRPr lang="en-US" altLang="zh-CN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Imagen 2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8" name="Imagen 7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405" y="-635"/>
            <a:ext cx="465137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26085" y="405130"/>
            <a:ext cx="6875145" cy="1329055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El mercado dejar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á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 de pagar por planes documentados. Pagar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á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 solo por resiliencia que funcione en la crisis.</a:t>
            </a:r>
            <a:br>
              <a:rPr lang="en-US" altLang="es-MX" sz="2400" b="1" i="1" spc="0" dirty="0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</a:rPr>
            </a:br>
            <a:endParaRPr lang="en-US" altLang="es-MX" sz="2400" b="1" i="1" spc="0" dirty="0">
              <a:solidFill>
                <a:schemeClr val="bg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426085" y="1708785"/>
            <a:ext cx="6948170" cy="1245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Las Consultoras han cumplido hist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ricamente con la implementaci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de BCP/DRP.</a:t>
            </a:r>
            <a:r>
              <a:rPr lang="es-MX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 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problema no es la capacidad profesional, sino el formato heredado del resultado:</a:t>
            </a:r>
            <a:r>
              <a:rPr lang="es-MX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 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planes entregados como documentos digitales, fragmentados, poco integrados y altamente susceptibles a la desactualizaci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435610" y="3160395"/>
            <a:ext cx="6949440" cy="1599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Realidad operativa del modelo actual</a:t>
            </a:r>
            <a:r>
              <a:rPr lang="es-MX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: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o"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Informaci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cr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tica distribuida en m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ú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ltiples archivos y versiones.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o"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Mantenci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costosa, manual y dependiente de personas clave.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o"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Pruebas limitadas, desconectadas de la operaci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real.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resultado es recurrente:</a:t>
            </a:r>
            <a:r>
              <a:rPr lang="es-MX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 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BCP/DRP correctos en auditor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a,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fr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giles en una crisis real.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456565" y="4942840"/>
            <a:ext cx="7153910" cy="16300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decisi</a:t>
            </a:r>
            <a:r>
              <a:rPr lang="en-US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estrat</a:t>
            </a:r>
            <a:r>
              <a:rPr lang="en-US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é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gica ya no es qu</a:t>
            </a:r>
            <a:r>
              <a:rPr lang="en-US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é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plan entregar,</a:t>
            </a:r>
            <a:r>
              <a:rPr lang="es-MX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sino c</a:t>
            </a:r>
            <a:r>
              <a:rPr lang="en-US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mo convertir ese plan en una capacidad operativa viva.</a:t>
            </a: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Eso es exactamente lo que una </a:t>
            </a:r>
            <a:r>
              <a:rPr lang="es-MX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d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emostraci</a:t>
            </a:r>
            <a:r>
              <a:rPr lang="en-US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de defcon5 permite evidenciar.</a:t>
            </a: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95" y="0"/>
            <a:ext cx="441833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" t="2766" r="4541" b="9052"/>
          <a:stretch>
            <a:fillRect/>
          </a:stretch>
        </p:blipFill>
        <p:spPr>
          <a:xfrm>
            <a:off x="8545195" y="0"/>
            <a:ext cx="3646805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26085" y="760730"/>
            <a:ext cx="6875145" cy="1329055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Esta alianza convierte proyectos puntuales</a:t>
            </a:r>
            <a:r>
              <a:rPr lang="es-MX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 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en relaciones estrat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é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gicas de largo plazo.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365125" y="2267585"/>
            <a:ext cx="7245350" cy="2630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Al incorporar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defcon5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, la </a:t>
            </a:r>
            <a:r>
              <a:rPr lang="es-MX" altLang="en-US" sz="1500" b="1" i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Firma </a:t>
            </a:r>
            <a:r>
              <a:rPr lang="en-US" altLang="es-MX" sz="1500" b="1" i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Consultora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 deja de entregar solo diagn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ó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sticos o planes y pasa a dejar una capacidad operativa instalada en el Cliente, que se mantiene vigente y demostrable en el tiempo.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Beneficios directos para la Consultora</a:t>
            </a:r>
            <a:r>
              <a:rPr lang="es-MX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:</a:t>
            </a:r>
            <a:endParaRPr lang="es-MX" altLang="en-US" sz="1500" b="1"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Diferenciaci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ó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n clara frente a otras boutiques estrat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é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gicas.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Ciclos de venta m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á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s cortos: el valor se entiende r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á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pido.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Relaci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ó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n recurrente con el Cliente, m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á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s all</a:t>
            </a:r>
            <a:r>
              <a:rPr lang="en-US" altLang="en-US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á</a:t>
            </a:r>
            <a:r>
              <a:rPr lang="en-US" altLang="es-MX" sz="1500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 del proyecto inicial.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tualizaci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456565" y="5115560"/>
            <a:ext cx="715391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</a:t>
            </a:r>
            <a:r>
              <a:rPr lang="es-MX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Firma 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Consultora deja de competir por horas o precio. Compite por impacto sostenido.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59245" y="313690"/>
            <a:ext cx="5200650" cy="1329055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chemeClr val="accent1"/>
                </a:solidFill>
                <a:latin typeface="Verdana" panose="020B0604030504040204" charset="0"/>
                <a:cs typeface="Verdana" panose="020B0604030504040204" charset="0"/>
              </a:rPr>
              <a:t>defcon5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 transforma la continuidad de un documento a un sistema vivo.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6594475" y="1698625"/>
            <a:ext cx="5369560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 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 la plataforma</a:t>
            </a: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en arquitectura SaaS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que permite a la Consultora ejecutar su enfoque con rigor y consistencia: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Mapea procesos cr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ticos y eval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ú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 su impacto y riesgo.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Estructura procedimientos de continuidad del negocio y recuperaci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tecnol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gica.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Gestiona incidentes reales con paneles de control y activaci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guiada.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Considera un modelo RACI de autorizacion de las definiciones. 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Permite una actualizacion eficiente y controla las versiones. 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Permite pruebas peri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dicas con evidencia trazable y control de cambios.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157480" y="5793105"/>
            <a:ext cx="757491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Consultora define la estrategia</a:t>
            </a:r>
            <a:r>
              <a:rPr lang="es-MX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, </a:t>
            </a:r>
            <a:r>
              <a:rPr lang="en-US" altLang="es-MX" sz="2000" b="1" i="1">
                <a:solidFill>
                  <a:schemeClr val="accent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asegura que ocurra.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235"/>
            <a:ext cx="6343015" cy="37388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47285" y="496570"/>
            <a:ext cx="6875145" cy="1329055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El Cliente deja de “cumplir con continuidad” y pasa a controlar la disrupci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ó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n.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4947285" y="2196465"/>
            <a:ext cx="724535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Con la Consultora apoyada por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, el Cliente obtiene: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Visibilidad inmediata de procesos cr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ticos y dependencias.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Procedimientos accionables, actualizados y probados.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Coordinaci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efectiva durante incidentes reales.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Evidencia s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lida frente a auditor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as y reguladores.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407035" y="4723130"/>
            <a:ext cx="1150048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continuidad deja de ser un riesgo reputacional</a:t>
            </a:r>
            <a:r>
              <a:rPr lang="es-MX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y se convierte en una ventaja operativa.</a:t>
            </a: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0"/>
            <a:ext cx="4547870" cy="40436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08245" y="293370"/>
            <a:ext cx="6875145" cy="1329055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Una alianza clara. Un liderazgo incuestionable de la Consultora..</a:t>
            </a:r>
            <a:b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</a:b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5008245" y="1282065"/>
            <a:ext cx="6948170" cy="30918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Proponemos 3 Modelos:</a:t>
            </a:r>
            <a:endParaRPr lang="es-MX" altLang="en-US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s-MX" altLang="en-US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 u="sng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Modelo 1 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—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integrado al servicio BCP/DRP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Consultora incorpora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como parte natural de su oferta.</a:t>
            </a: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 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Cliente percibe una soluci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integral y ejecutable.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None/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s-MX" sz="1500" b="1" u="sng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Modelo 2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—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como acelerador metodol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gico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plataforma ejecuta la metodolog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 de la Consultora, reduciendo tiempos y fricci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operativa.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None/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s-MX" sz="1500" b="1" u="sng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Modelo 3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— Relaci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recurrente con el Cliente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Consultora acompa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ñ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 operaci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n, pruebas y mejora continua, con soporte permanente de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7071995" y="4542155"/>
            <a:ext cx="7164705" cy="7270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Consultora lidera la relaci</a:t>
            </a:r>
            <a:r>
              <a:rPr lang="en-US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n.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potencia la ejecuci</a:t>
            </a:r>
            <a:r>
              <a:rPr lang="en-US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n.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valor se sostiene en el tiempo.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"/>
            <a:ext cx="4777740" cy="58521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" t="2766" r="4541" b="9052"/>
          <a:stretch>
            <a:fillRect/>
          </a:stretch>
        </p:blipFill>
        <p:spPr>
          <a:xfrm>
            <a:off x="8545195" y="0"/>
            <a:ext cx="3646805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26085" y="598805"/>
            <a:ext cx="7809865" cy="1329055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Vea c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ó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mo su metodolog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í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a opera en tiempo real con </a:t>
            </a:r>
            <a:r>
              <a:rPr lang="en-US" altLang="es-MX" sz="2400" b="1" i="1" spc="0" dirty="0">
                <a:solidFill>
                  <a:srgbClr val="92D050"/>
                </a:solidFill>
                <a:latin typeface="Verdana" panose="020B0604030504040204" charset="0"/>
                <a:cs typeface="Verdana" panose="020B0604030504040204" charset="0"/>
              </a:rPr>
              <a:t>defcon5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365125" y="2267585"/>
            <a:ext cx="7245350" cy="1245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Conozca en una demostraci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c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mo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permite a la Consultora transformar planes de continuidad en capacidades operativas reales para sus Clientes.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456565" y="5115560"/>
            <a:ext cx="715391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Solicite una demostraci</a:t>
            </a:r>
            <a:r>
              <a:rPr lang="en-US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personalizada de </a:t>
            </a:r>
            <a:r>
              <a:rPr lang="en-US" altLang="es-MX" sz="20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s-MX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y eval</a:t>
            </a:r>
            <a:r>
              <a:rPr lang="en-US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ú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 el modelo de asociaci</a:t>
            </a:r>
            <a:r>
              <a:rPr lang="en-US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m</a:t>
            </a:r>
            <a:r>
              <a:rPr lang="en-US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 adecuado para su firma.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005" y="3583940"/>
            <a:ext cx="398145" cy="39814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720" y="4097655"/>
            <a:ext cx="464185" cy="464185"/>
          </a:xfrm>
          <a:prstGeom prst="rect">
            <a:avLst/>
          </a:prstGeom>
        </p:spPr>
      </p:pic>
      <p:sp>
        <p:nvSpPr>
          <p:cNvPr id="13" name="Cuadro de texto 12"/>
          <p:cNvSpPr txBox="1"/>
          <p:nvPr/>
        </p:nvSpPr>
        <p:spPr>
          <a:xfrm>
            <a:off x="4496435" y="3604260"/>
            <a:ext cx="2568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s-MX" altLang="en-US">
                <a:latin typeface="Verdana" panose="020B0604030504040204" charset="0"/>
                <a:cs typeface="Verdana" panose="020B0604030504040204" charset="0"/>
                <a:sym typeface="+mn-ea"/>
              </a:rPr>
              <a:t>+56 9 3222 6054</a:t>
            </a:r>
            <a:endParaRPr lang="es-MX" altLang="en-US"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4516755" y="4097020"/>
            <a:ext cx="4494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latin typeface="Verdana" panose="020B0604030504040204" charset="0"/>
                <a:cs typeface="Verdana" panose="020B0604030504040204" charset="0"/>
              </a:rPr>
              <a:t>solution.work2023@gmail.com</a:t>
            </a:r>
            <a:endParaRPr lang="es-MX" altLang="en-US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3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6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11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11"/>
</p:tagLst>
</file>

<file path=ppt/tags/tag173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26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26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2"/>
</p:tagLst>
</file>

<file path=ppt/tags/tag265.xml><?xml version="1.0" encoding="utf-8"?>
<p:tagLst xmlns:p="http://schemas.openxmlformats.org/presentationml/2006/main">
  <p:tag name="KSO_WM_SPECIAL_SOURCE" val="bdnull"/>
  <p:tag name="KSO_WM_SLIDE_CONTENT_AREA" val="{&quot;left&quot;:&quot;224.75&quot;,&quot;top&quot;:&quot;58.35&quot;,&quot;width&quot;:&quot;719.95&quot;,&quot;height&quot;:&quot;296.25&quot;}"/>
  <p:tag name="KSO_WM_SLIDE_ID" val="custom20233411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11"/>
  <p:tag name="KSO_WM_SLIDE_LAYOUT" val="a_e"/>
  <p:tag name="KSO_WM_SLIDE_LAYOUT_CNT" val="1_1"/>
</p:tagLst>
</file>

<file path=ppt/tags/tag2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6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2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69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270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1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54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ags/tag2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4.xml><?xml version="1.0" encoding="utf-8"?>
<p:tagLst xmlns:p="http://schemas.openxmlformats.org/presentationml/2006/main">
  <p:tag name="KSO_WM_SPECIAL_SOURCE" val="bdnull"/>
  <p:tag name="KSO_WM_SLIDE_CONTENT_AREA" val="{&quot;left&quot;:&quot;224.75&quot;,&quot;top&quot;:&quot;58.35&quot;,&quot;width&quot;:&quot;719.95&quot;,&quot;height&quot;:&quot;296.25&quot;}"/>
  <p:tag name="KSO_WM_SLIDE_ID" val="custom20233411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11"/>
  <p:tag name="KSO_WM_SLIDE_LAYOUT" val="a_e"/>
  <p:tag name="KSO_WM_SLIDE_LAYOUT_CNT" val="1_1"/>
</p:tagLst>
</file>

<file path=ppt/tags/tag2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6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2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8.xml><?xml version="1.0" encoding="utf-8"?>
<p:tagLst xmlns:p="http://schemas.openxmlformats.org/presentationml/2006/main">
  <p:tag name="KSO_WM_SPECIAL_SOURCE" val="bdnull"/>
  <p:tag name="KSO_WM_SLIDE_CONTENT_AREA" val="{&quot;left&quot;:&quot;224.75&quot;,&quot;top&quot;:&quot;58.35&quot;,&quot;width&quot;:&quot;719.95&quot;,&quot;height&quot;:&quot;296.25&quot;}"/>
  <p:tag name="KSO_WM_SLIDE_ID" val="custom20233411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11"/>
  <p:tag name="KSO_WM_SLIDE_LAYOUT" val="a_e"/>
  <p:tag name="KSO_WM_SLIDE_LAYOUT_CNT" val="1_1"/>
</p:tagLst>
</file>

<file path=ppt/tags/tag279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1"/>
</p:tagLst>
</file>

<file path=ppt/tags/tag2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81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54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heme/theme1.xml><?xml version="1.0" encoding="utf-8"?>
<a:theme xmlns:a="http://schemas.openxmlformats.org/drawingml/2006/main" name="Office Theme">
  <a:themeElements>
    <a:clrScheme name="紫金">
      <a:dk1>
        <a:srgbClr val="000000"/>
      </a:dk1>
      <a:lt1>
        <a:srgbClr val="FFFFFF"/>
      </a:lt1>
      <a:dk2>
        <a:srgbClr val="140831"/>
      </a:dk2>
      <a:lt2>
        <a:srgbClr val="ECE6FA"/>
      </a:lt2>
      <a:accent1>
        <a:srgbClr val="D9AB7D"/>
      </a:accent1>
      <a:accent2>
        <a:srgbClr val="27125A"/>
      </a:accent2>
      <a:accent3>
        <a:srgbClr val="63489A"/>
      </a:accent3>
      <a:accent4>
        <a:srgbClr val="FF8001"/>
      </a:accent4>
      <a:accent5>
        <a:srgbClr val="4B4BE5"/>
      </a:accent5>
      <a:accent6>
        <a:srgbClr val="29D5A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24">
      <a:dk1>
        <a:sysClr val="windowText" lastClr="000000"/>
      </a:dk1>
      <a:lt1>
        <a:sysClr val="window" lastClr="FFFFFF"/>
      </a:lt1>
      <a:dk2>
        <a:srgbClr val="3F3F3F"/>
      </a:dk2>
      <a:lt2>
        <a:srgbClr val="FFFDEB"/>
      </a:lt2>
      <a:accent1>
        <a:srgbClr val="00CC66"/>
      </a:accent1>
      <a:accent2>
        <a:srgbClr val="FFC858"/>
      </a:accent2>
      <a:accent3>
        <a:srgbClr val="0C89F0"/>
      </a:accent3>
      <a:accent4>
        <a:srgbClr val="B71CC3"/>
      </a:accent4>
      <a:accent5>
        <a:srgbClr val="181FB1"/>
      </a:accent5>
      <a:accent6>
        <a:srgbClr val="33CCF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4231</Words>
  <Application>WPS Presentation</Application>
  <PresentationFormat>宽屏</PresentationFormat>
  <Paragraphs>98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Verdana</vt:lpstr>
      <vt:lpstr>Lato</vt:lpstr>
      <vt:lpstr>Segoe Print</vt:lpstr>
      <vt:lpstr>Microsoft YaHei</vt:lpstr>
      <vt:lpstr>Arial Unicode MS</vt:lpstr>
      <vt:lpstr>Manrope ExtraBold</vt:lpstr>
      <vt:lpstr>Inter</vt:lpstr>
      <vt:lpstr>Office Theme</vt:lpstr>
      <vt:lpstr>1_Office Theme</vt:lpstr>
      <vt:lpstr>2_Office Theme</vt:lpstr>
      <vt:lpstr>PowerPoint 演示文稿</vt:lpstr>
      <vt:lpstr>La crisis no expone la falta de planes. Expone planes que no funcionan. </vt:lpstr>
      <vt:lpstr>El mercado dejará de pagar por planes documentados. Pagará solo por resiliencia que funcione en la crisis. </vt:lpstr>
      <vt:lpstr>Esta alianza convierte proyectos puntuales en relaciones estratégicas de largo plazo.</vt:lpstr>
      <vt:lpstr>defcon5 transforma la continuidad de un documento a un sistema vivo.</vt:lpstr>
      <vt:lpstr>El Cliente deja de “cumplir con continuidad” y pasa a controlar la disrupción.</vt:lpstr>
      <vt:lpstr>Una alianza clara. Un liderazgo incuestionable de la Consultora.. </vt:lpstr>
      <vt:lpstr>Vea cómo su metodología opera en tiempo real con defcon5.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Villalobos</dc:creator>
  <cp:lastModifiedBy>Marco Villalobos</cp:lastModifiedBy>
  <cp:revision>15</cp:revision>
  <dcterms:created xsi:type="dcterms:W3CDTF">2025-07-23T00:59:00Z</dcterms:created>
  <dcterms:modified xsi:type="dcterms:W3CDTF">2026-01-19T11:16:24Z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2058-12.2.0.23196</vt:lpwstr>
  </property>
  <property fmtid="{D5CDD505-2E9C-101B-9397-08002B2CF9AE}" pid="3" name="ICV">
    <vt:lpwstr>29A5C9A0711348A6B365A128A32F60C4_11</vt:lpwstr>
  </property>
</Properties>
</file>